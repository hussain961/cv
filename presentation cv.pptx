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77" r:id="rId9"/>
    <p:sldId id="262" r:id="rId10"/>
    <p:sldId id="272" r:id="rId11"/>
    <p:sldId id="270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78B6-F89D-D0C4-2F1C-D3FECAD13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C5CF9-10EB-2923-448B-D475E55D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5A59E-CA67-E31D-7D85-D4347224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A8E0-3E68-B898-2D76-04F89685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346E3-FA14-11BC-A29A-6340EB54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89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D64E-AC82-4295-25D2-01CDA9D2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CC7B-883D-64A9-3E8F-34FC98B33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4AE43-7DE4-BF93-2E0B-B8109024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C0B58-843D-EBED-72D6-7D04B3EC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3C1C-FC7C-6D12-0190-1EEB970D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9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043A-FAD8-E0D6-4882-9C4224D8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286AB-3A4F-AB96-3909-47F055858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848D-BAB4-DF40-9C59-005D77A8D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AD98B-2423-93F4-095D-A32E159D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2719-C5CB-30E1-2159-8EB45D7A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1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4100-129A-EC33-4FAD-563F8976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EAE8-34EB-C3E3-C028-1F176D6FA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0E31A-AF07-9611-4D86-D07051825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195A4-D21A-9036-CE51-FFF354B0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4D36D-CA60-8639-4A21-0A7F94C55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79212-F7E7-A4F0-3A3F-C0D4D0C6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97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E027-3486-706F-D297-6A72A065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F38F7-C757-562E-7750-DECA0721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0B040-2A77-0263-B4F3-F0F2F32F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D8C9D-BD9C-C50E-F78E-9AE34923F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C5972-10B2-ACCA-4193-DFAEEB293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8282F8-A2A9-1257-A519-8E875B20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F79EA-538C-1E5C-0D04-D86DB7D8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547B6-434C-452A-8EA6-C7628D48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95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E9A1-A2A3-A300-3441-F164578C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DD42E-316E-6274-FE33-741C7BD4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C09AA-9EE9-1B7C-1BA4-C17F2E3A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EEB40-4283-37A8-7364-82360287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13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1306B-FE03-E299-5750-F3DF7C66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22F9A-0EFA-94E7-229C-E7D377C5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2DD05-C729-18B5-B8F8-13E9D9F2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5EC3-F71C-15CC-1150-A2C8AE0E9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4FD8-7691-E261-A0B1-5C766B12E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A2FA6-7E96-7300-9EAB-D337FA0F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9C198-6EE8-6357-18BF-15EEE6F6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E1B45-A3B7-0875-A06B-9DD3FC07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C5135-763E-5E22-E14D-AFCBCEB1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8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91A9-01AF-7243-BEFB-C448004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2103D-C73E-5760-B02F-4D7234AAD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7AF8F-A92B-3FFF-DF41-10DAF7324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B8E8D-4A7B-0C8C-25C2-91CF824C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05C15-1E2C-9568-A630-52BCEE8C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76C38-145E-6F14-EDC9-F2972BEA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0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4C34-0EDD-AE0F-04BB-34F8301B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706B3-CE6A-EA9C-1BA6-14A7472F5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92DE7-B75B-028A-921D-79FFD8948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D9787-20B1-3ED8-6220-A04B0EF8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3E3FD-0B0D-B262-A6E2-1F1FC6A2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61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3B855-9269-1F0D-7557-EC7469CDB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124B3-87FF-D722-AE3C-9C50768D8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FACB6-F2AC-CE78-5A29-51FDAB0A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BEFBD-0C6E-2E55-489B-2F687D73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5BC52-753F-0D29-3D02-E1278D5E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3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7DB27-84D1-9EC5-9981-6E4AE91A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1D152-1083-6996-9637-D18973BB9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15BF8-6A11-9BE1-D587-6494E112F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1FBBE-300A-46DF-B207-6486D4871C9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20615-BC71-3CE2-0F89-FF7148216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488A9-23FA-D7C4-9A4B-7136EDCBC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A70D5-4187-476A-AB93-3385C5413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77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88F9-9156-54A8-5041-B1591417E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9867"/>
            <a:ext cx="9144000" cy="128362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Comparison of CCD and CMOS Image Sensor Technologies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9A0A2-C95D-93C9-F24F-99C03E890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75954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ITA0510 - COMPUTER VISION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FEB76-B3C9-CCD7-91DD-9A16BE985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2" y="179861"/>
            <a:ext cx="7620016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0C2235-8A72-4D6D-3D7E-F7DB1B64E733}"/>
              </a:ext>
            </a:extLst>
          </p:cNvPr>
          <p:cNvSpPr txBox="1"/>
          <p:nvPr/>
        </p:nvSpPr>
        <p:spPr>
          <a:xfrm>
            <a:off x="1524001" y="4859593"/>
            <a:ext cx="3510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Vijay A (192511030)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5FEC1BC-5B69-3394-3574-55DF64BCE740}"/>
              </a:ext>
            </a:extLst>
          </p:cNvPr>
          <p:cNvSpPr/>
          <p:nvPr/>
        </p:nvSpPr>
        <p:spPr>
          <a:xfrm rot="5400000">
            <a:off x="108152" y="-108154"/>
            <a:ext cx="1818971" cy="2035278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AD611D74-764D-B3BA-561C-E905C624D7DB}"/>
              </a:ext>
            </a:extLst>
          </p:cNvPr>
          <p:cNvSpPr/>
          <p:nvPr/>
        </p:nvSpPr>
        <p:spPr>
          <a:xfrm rot="16200000">
            <a:off x="10264874" y="4930877"/>
            <a:ext cx="1818971" cy="2035278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20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AE75-74DC-BB8E-4612-52CAA267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an Image Sensor?</a:t>
            </a:r>
            <a:br>
              <a:rPr lang="en-IN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3200" b="1" u="sng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B74FDC-600B-FB44-8C74-5F66124E0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FF18A-3FBE-A289-2AED-489F0EE18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17087D-BB6D-5488-B0E0-5CFF4D745C11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1EB6F-8497-6AFE-ED28-782C8AFDF8E8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81732-5765-77BA-B977-3394D5F51BD6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2D199-E4DC-6000-CFA1-A0ECA589163E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31E060-C944-E069-D7FE-B62750F6EED6}"/>
              </a:ext>
            </a:extLst>
          </p:cNvPr>
          <p:cNvSpPr txBox="1"/>
          <p:nvPr/>
        </p:nvSpPr>
        <p:spPr>
          <a:xfrm>
            <a:off x="1612386" y="1474840"/>
            <a:ext cx="919336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sensor is an electronic device that converts incoming light into electrical signals, which are then processed into digital images. It acts as the "eye" of a camera by capturing light reflected from objects and transforming it into pixel data.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sensors are essential components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cameras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surveillance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equipment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inspection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Satellites and telescopes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primary image sensor technologies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CCD (Charge Coupled Device)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(Complementary Metal Oxide Semiconductor)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both perform the same basic function, they differ significantly in design, performance, power consumption, manufacturing process, and application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649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2519-2207-DB80-4FC6-F038830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857F-EAE1-CF06-0813-901D3B4C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an Image Sensor?</a:t>
            </a:r>
            <a:br>
              <a:rPr lang="en-IN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3200" b="1" u="sng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7B9A9A-F9BD-E07B-4784-451C5D75C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38DE0F-F5CD-203D-629E-F3722FD9A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27585B-5316-E016-B3E6-F19CC8DE078F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FF7AA-B50F-2FD1-3475-C2B55F282A1B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5431D6-36A1-39CE-8AEA-3DF35481F3A4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CFE7E8-8666-F3B5-AA60-1EC21CEFEC4E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57BCF6-CE1D-2686-7A33-9DC1547482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35"/>
          <a:stretch>
            <a:fillRect/>
          </a:stretch>
        </p:blipFill>
        <p:spPr>
          <a:xfrm>
            <a:off x="224906" y="1366683"/>
            <a:ext cx="11740952" cy="530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52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83474D-C8AA-934F-FD5C-580A125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CCD?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DEC86-8095-A66C-DEDF-A860B7B7A5C4}"/>
              </a:ext>
            </a:extLst>
          </p:cNvPr>
          <p:cNvSpPr txBox="1"/>
          <p:nvPr/>
        </p:nvSpPr>
        <p:spPr>
          <a:xfrm>
            <a:off x="796476" y="1385219"/>
            <a:ext cx="105597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Coupled Device (CCD)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image sensor that converts light into electrical charge. The charge from each pixel is transferred sequentially to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output amplifier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it is converted into a digital image.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amplifier for all pixels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charge transfer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electronic noise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image quality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low-light sensitivity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image quality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dynamic range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reproduction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image readout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manufacturing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C9258F4-01AB-D7DE-C169-C4E02B1C2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752CFD-207D-29EC-EC5B-641DB7A8D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D850E0-621C-351D-10D5-EF7D5F89D930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A54C3-9F3A-CE4C-5D50-2F6AAAABB753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56F6-024D-9110-B458-91826CBC141D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8945E-449E-B3B9-2289-10EC488589C6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9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62FCEA-6D00-F21F-9E8E-4847614E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CMOS?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62D22-DC3C-E73C-3A7D-0710E7D56559}"/>
              </a:ext>
            </a:extLst>
          </p:cNvPr>
          <p:cNvSpPr txBox="1"/>
          <p:nvPr/>
        </p:nvSpPr>
        <p:spPr>
          <a:xfrm>
            <a:off x="938269" y="1474840"/>
            <a:ext cx="1031546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 Metal Oxide Semiconductor (CMOS)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converts light into electrical signals. Each pixel has its own amplifier, allowing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readout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image processing.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Amplifier in every pixel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pixel readout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image capture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processor integration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performance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manufacturing cost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battery efficiency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noise in older sensors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shutter effect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Smartphones, DSLR cameras, CCTV, drones, autonomous vehicles.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9FC90923-5ADC-E4AC-13B7-3FABDDFA7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E4145-0894-35D6-271F-5671B23DA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909930-DDB5-496C-8197-7439CF07FDAD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665EF-6CF6-3002-4C7E-5567BB4328B7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9040B3-D261-B329-7348-2BEAFD59CBF2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1E4759-AD9B-BF75-59BC-65F07BB9B298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142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6154ED-7ABA-2F52-BAE2-63624EA16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 of CCD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CE9F2C1A-5E90-5132-CEE1-7D90F044D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7885D-394D-74BE-83F4-B6F45F25A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AE4031-C0B4-8957-2AD6-B7D1C45BAE7F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5F9A6-B912-4B40-025A-6397607BC253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69B6E-0E0D-A2E5-064C-AFA3A028361F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45FE7-385B-6A6C-3B31-FB3609055057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07A39B-6B4C-7B0E-0CB2-E92E9452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49"/>
          <a:stretch>
            <a:fillRect/>
          </a:stretch>
        </p:blipFill>
        <p:spPr>
          <a:xfrm>
            <a:off x="422787" y="1297858"/>
            <a:ext cx="11415252" cy="519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1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9945ED-81A1-5668-AB1E-747E3E98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 of CMOS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AE73CD83-0ACF-0873-7D14-C812BF29A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14816B-27C3-40F2-7010-ACA7E32AA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FD2C8A-5FBB-711F-EFEE-816A42D0964F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770AAF-886C-9F5D-9BF4-BB26AD1948CA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BF4D7-52E8-D94A-407E-2C3AE92E070A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2546A-AD25-BA88-37CC-A74F4158BCA2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30E23-7C07-F8C5-6C83-A4C3913E4C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64"/>
          <a:stretch>
            <a:fillRect/>
          </a:stretch>
        </p:blipFill>
        <p:spPr>
          <a:xfrm>
            <a:off x="226142" y="1469458"/>
            <a:ext cx="11740951" cy="520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9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7DD3-BD52-6D52-EB72-6E559FB2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B172DC-8455-1956-C4ED-8F0FED2D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Trade-offs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6108A8E0-6BAC-DF10-5089-EB50BE6BC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E7BD44-6F6A-FC7A-FD5C-5F4F4AD09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36C521-EEB0-0F19-ECE0-CC425B77BA0C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A5355-8784-8744-6B88-7FCDC0F2256A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F4739-B503-93CF-658B-6CB49AC26FBE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3222C0-3CF0-9133-ADF5-9FE0E1EA22CB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F640A5-A3B2-FE30-74A2-F6BFDF26AD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19" r="108"/>
          <a:stretch>
            <a:fillRect/>
          </a:stretch>
        </p:blipFill>
        <p:spPr>
          <a:xfrm>
            <a:off x="226141" y="1297858"/>
            <a:ext cx="11739717" cy="52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25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AEDF54-6C6D-C18F-FA32-96EB5CE0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Comparison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F3A3530A-B77A-AABE-5938-CF3F30FBB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F04B91-0C97-1CC0-9BB9-673F83845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1C986E-4A21-B66D-C319-37DD7E67BDE5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C5B073-6004-CDCA-1152-DC6660661C0E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A5AB1-6488-2C37-0A87-EE9E49EA70FD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B027EF-6CAC-D98F-7E88-91FECEDE3EC0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FE2E72-7385-1C1A-4C01-B1C3650D6C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40"/>
          <a:stretch>
            <a:fillRect/>
          </a:stretch>
        </p:blipFill>
        <p:spPr>
          <a:xfrm>
            <a:off x="224906" y="1474840"/>
            <a:ext cx="11652462" cy="501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6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53FF-A972-432B-6DBE-C93C29F1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CD128B-B370-17F0-7E3D-FFD2A4B1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36" y="501445"/>
            <a:ext cx="7659329" cy="973395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711A5EFF-1629-F161-19D2-44D2B9430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783" y="399949"/>
            <a:ext cx="682301" cy="897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4B32BB-2097-D0FA-6E1B-9CD0DEA00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308" y="399949"/>
            <a:ext cx="897909" cy="8979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215A2F-680C-FB4C-2027-A3B6835C377B}"/>
              </a:ext>
            </a:extLst>
          </p:cNvPr>
          <p:cNvSpPr/>
          <p:nvPr/>
        </p:nvSpPr>
        <p:spPr>
          <a:xfrm>
            <a:off x="0" y="0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E6680-9C37-A66A-4F1D-8AF1581EEFDA}"/>
              </a:ext>
            </a:extLst>
          </p:cNvPr>
          <p:cNvSpPr/>
          <p:nvPr/>
        </p:nvSpPr>
        <p:spPr>
          <a:xfrm rot="5400000">
            <a:off x="6115434" y="-5889292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F4405-5EF5-8D63-283D-5C9408EE5719}"/>
              </a:ext>
            </a:extLst>
          </p:cNvPr>
          <p:cNvSpPr/>
          <p:nvPr/>
        </p:nvSpPr>
        <p:spPr>
          <a:xfrm>
            <a:off x="11967093" y="-1"/>
            <a:ext cx="22614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BBCD5-33F7-F0C8-F6AF-BA3BB6158896}"/>
              </a:ext>
            </a:extLst>
          </p:cNvPr>
          <p:cNvSpPr/>
          <p:nvPr/>
        </p:nvSpPr>
        <p:spPr>
          <a:xfrm rot="5400000">
            <a:off x="6115433" y="781433"/>
            <a:ext cx="187275" cy="11965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9188E2-187C-DB86-366B-31D5C731B5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12"/>
          <a:stretch>
            <a:fillRect/>
          </a:stretch>
        </p:blipFill>
        <p:spPr>
          <a:xfrm>
            <a:off x="224906" y="1396181"/>
            <a:ext cx="11652462" cy="50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2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5A7EC8-D1AA-D9E2-ABA0-FC1AAEF63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0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332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Technical Comparison of CCD and CMOS Image Sensor Technologies</vt:lpstr>
      <vt:lpstr>What is an Image Sensor? </vt:lpstr>
      <vt:lpstr>What is an Image Sensor? </vt:lpstr>
      <vt:lpstr>What is CCD?</vt:lpstr>
      <vt:lpstr>What is CMOS?</vt:lpstr>
      <vt:lpstr>Working Principle of CCD</vt:lpstr>
      <vt:lpstr>Working Principle of CMOS</vt:lpstr>
      <vt:lpstr>Engineering Trade-offs</vt:lpstr>
      <vt:lpstr>Technical Comparison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Vijay Vijay</dc:creator>
  <cp:lastModifiedBy>Vijay Vijay</cp:lastModifiedBy>
  <cp:revision>5</cp:revision>
  <dcterms:modified xsi:type="dcterms:W3CDTF">2026-07-23T17:55:14Z</dcterms:modified>
</cp:coreProperties>
</file>